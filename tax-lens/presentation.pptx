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6400800" y="0"/>
            <a:ext cx="6400800" cy="6858000"/>
          </a:xfrm>
          <a:prstGeom prst="rtTriangl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TAX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Natural-Language Tax Advisory · 2024 · Azure OpenAI Agentic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Angular 17 + PrimeNG  ·  FastAPI + Python  ·  MongoDB  ·  GPT Function Calling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Codeathon Presentation · Architecture &amp; Run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 &amp; 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5120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" cy="5120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Tax software shows numbers — but not WHY.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Users don't trust black-box calculations.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They want to ask: 'What if we moved to Texas?'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They want to challenge: 'Why is our rate so high?'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They want to compare companies in plain English.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AI-only tools hallucinate tax math — dangerous.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5120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73152" cy="51206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07008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47857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Deterministic 7-step rule-based tax engine (Python).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AI agent layer with 13 callable tools (Azure OpenAI).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LLM never computes — only orchestrates and explains.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Persistent session memory in MongoDB → real continuity.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Interactive grid + chat UI in Angular + PrimeNG.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Every number is auditable, traceable, defensible.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Architecture · 3 layers, 1 source of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291840" cy="4389120"/>
          </a:xfrm>
          <a:prstGeom prst="roundRect">
            <a:avLst/>
          </a:prstGeom>
          <a:solidFill>
            <a:srgbClr val="EEF2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Angular 17 · PrimeNG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Standalone components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PrimeNG p-table grid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Reactive signals state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Conversational chat panel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Tool-call chips (agent transparency)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Step-by-step breakdown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80160"/>
            <a:ext cx="3291840" cy="4389120"/>
          </a:xfrm>
          <a:prstGeom prst="roundRect">
            <a:avLst/>
          </a:prstGeom>
          <a:solidFill>
            <a:srgbClr val="F0FDF4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17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47857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FastAPI ·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7857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Excel parser (pandas)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47857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Pure 7-step tax engine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47857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13 tool functions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47857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REST endpoints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47857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MongoDB session store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47857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In-memory pre-computed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280160"/>
            <a:ext cx="3291840" cy="4389120"/>
          </a:xfrm>
          <a:prstGeom prst="roundRect">
            <a:avLst/>
          </a:prstGeom>
          <a:solidFill>
            <a:srgbClr val="FEF3C7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Calibri"/>
              </a:rPr>
              <a:t>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Azure 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A580C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Function calling (agentic)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A580C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13 tool schemas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A580C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Multi-iteration tool loop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A580C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Persona + tone prompt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A580C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Memory via message history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A580C"/>
                </a:solidFill>
              </a:rPr>
              <a:t>■  </a:t>
            </a:r>
            <a:r>
              <a:rPr sz="1200">
                <a:solidFill>
                  <a:srgbClr val="1F2937"/>
                </a:solidFill>
                <a:latin typeface="Calibri"/>
              </a:rPr>
              <a:t>NEVER computes — only narrates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40480" y="3337560"/>
            <a:ext cx="59436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726679" y="3337560"/>
            <a:ext cx="594361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Key principle: numbers are deterministic; only narration is AI.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Tax Engine · The 7-Step Calculation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43200" cy="2286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Federal Taxable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max(0, GrossIncome − Deductions)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743200" cy="2286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344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alibri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QBI Deduction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Pass-throughs only: 20% × FedTaxable. C-Corps skip.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743200" cy="2286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344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alibri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NOL Carryforward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min(NOL, 80% × AdjustedTaxable)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097280"/>
            <a:ext cx="2743200" cy="2286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344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alibr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6002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Federal Tax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0312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C-Corp flat 21% · Pass-throughs use 2024 brackets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0440"/>
            <a:ext cx="2743200" cy="2286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657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alibri"/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23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Apply Credits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max(0, FedTax − Credits) — never negative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520440"/>
            <a:ext cx="2743200" cy="2286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657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alibri"/>
              </a:rP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023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State Tax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5262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Pre-QBI base × state rate · CA min $800 franchise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520440"/>
            <a:ext cx="2743200" cy="2286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657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alibri"/>
              </a:rPr>
              <a:t>Step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023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Total + Effective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5262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Total = Federal + State · Eff = Total/Gross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13 Agent Tools · Function Calling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21615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24712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get_company_tax_breakdown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35608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Full 7-step breakdown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051560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399" y="121615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261872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39" y="1124712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what_if_calculator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39" y="1435608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Override any field; see delta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1051560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8" y="121615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8" y="1261872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8" y="1124712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recalculate_with_overrides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8" y="1435608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Multi-override scenarios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938528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14884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011680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compare_companies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322576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Side-by-side, 2+ companies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1938528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43399" y="210312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399" y="214884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39" y="2011680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portfolio_analysis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39" y="2322576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Cross-portfolio insights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8" y="1938528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8" y="210312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8" y="214884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38" y="2011680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filter_companies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38" y="2322576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By entity / state / income / tax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2825496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" y="2990088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03580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2898648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explain_tax_rule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3209544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QBI · NOL · CA min · brackets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51959" y="2825496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43399" y="2990088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399" y="303580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39" y="2898648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nol_impact_analysis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39" y="3209544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How much NOL is saving you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58" y="2825496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29598" y="2990088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598" y="303580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38" y="2898648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credit_impact_analysis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38" y="3209544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Tax saved by credits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3712464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7200" y="3877056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922776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3785616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state_comparison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" y="4096512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Best state for this company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51959" y="3712464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343399" y="3877056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43399" y="3922776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92039" y="3785616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entity_type_comparison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2039" y="4096512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Best entity type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8158" y="3712464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29598" y="3877056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598" y="3922776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38" y="3785616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top_n_analysis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38" y="4096512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Top N by any metric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4599432"/>
            <a:ext cx="3749039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57200" y="4764024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809744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4672584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onsolas"/>
              </a:rPr>
              <a:t>tax_savings_opportunities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" y="4983480"/>
            <a:ext cx="3017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Restructuring picks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Flow · A Single Chat Turn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143000"/>
            <a:ext cx="14630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21615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18872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"What if Pacific Manufacturing moved to Texas?"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64592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645920"/>
            <a:ext cx="14630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1907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ANGULAR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6916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POST /api/chat { session_id, message }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2148840"/>
            <a:ext cx="14630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22199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1945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Load prior messages from MongoDB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2651760"/>
            <a:ext cx="14630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72491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26974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Send messages + 13 tool schemas to Azure OpenAI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315468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3154680"/>
            <a:ext cx="14630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22783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320040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Returns tool_call: what_if_calculator(StateCode='TX')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0332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3657600"/>
            <a:ext cx="14630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73075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DISPATCHER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370332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Run tax_engine.what_if_calculator (deterministic)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0624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" y="4160520"/>
            <a:ext cx="14630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23367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42062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Receives JSON, composes natural-language reply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466344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70916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" y="4663440"/>
            <a:ext cx="14630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73659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47091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Persist user + assistant + tool messages</a:t>
            </a:r>
          </a:p>
        </p:txBody>
      </p:sp>
      <p:sp>
        <p:nvSpPr>
          <p:cNvPr id="45" name="Oval 44"/>
          <p:cNvSpPr/>
          <p:nvPr/>
        </p:nvSpPr>
        <p:spPr>
          <a:xfrm>
            <a:off x="457200" y="5166360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21208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5166360"/>
            <a:ext cx="14630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23951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ANGULAR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040" y="52120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Render reply + tool-call chips → user sees agent at work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Backend Files · backend/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338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47857"/>
                </a:solidFill>
                <a:latin typeface="Consolas"/>
              </a:rPr>
              <a:t>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16152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FastAPI app + lifespan + all REST endpoints (companies, tax, chat, sessions).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0512"/>
            <a:ext cx="11338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938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47857"/>
                </a:solidFill>
                <a:latin typeface="Consolas"/>
              </a:rPr>
              <a:t>tax_engine.py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29384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Pure deterministic 7-step calculator + 13 tool functions + Excel loader.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23744"/>
            <a:ext cx="11338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47857"/>
                </a:solidFill>
                <a:latin typeface="Consolas"/>
              </a:rPr>
              <a:t>ai_layer.py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42616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Azure OpenAI client, system prompt, 13 tool schemas, agentic loop with tool dispatch.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36976"/>
            <a:ext cx="11338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5584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47857"/>
                </a:solidFill>
                <a:latin typeface="Consolas"/>
              </a:rPr>
              <a:t>db.py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355848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MongoDB session store; transparent in-memory fallback if Mongo unavailable.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1338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47857"/>
                </a:solidFill>
                <a:latin typeface="Consolas"/>
              </a:rPr>
              <a:t>models.py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069080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Pydantic request/response models (Company, TaxResult, ChatRequest, …).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11338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82312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47857"/>
                </a:solidFill>
                <a:latin typeface="Consolas"/>
              </a:rPr>
              <a:t>requirements.txt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782312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fastapi · uvicorn · pydantic · pandas · openpyxl · openai · pymongo · dotenv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76672"/>
            <a:ext cx="11338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9554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47857"/>
                </a:solidFill>
                <a:latin typeface="Consolas"/>
              </a:rPr>
              <a:t>.env.example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495544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Template for AZURE_OPENAI_*, MONGO_URI, EXCEL_PATH.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Frontend Files · frontend/src/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3385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onsolas"/>
              </a:rPr>
              <a:t>app/tax-widget.component.ts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8872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Main UI: PrimeNG p-table grid + tax breakdown + chat panel + tool-chips.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113385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onsolas"/>
              </a:rPr>
              <a:t>app/api.service.ts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Single HTTP service for all backend calls (companies, tax, chat, sessions).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3385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onsolas"/>
              </a:rPr>
              <a:t>app/session.service.ts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688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Reactive chat state via Angular signals; stable session_id per tab.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113385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onsolas"/>
              </a:rPr>
              <a:t>app/tax.types.ts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0896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TypeScript interfaces matching backend Pydantic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113385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onsolas"/>
              </a:rPr>
              <a:t>app/app.component.ts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4904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Shell — renders &lt;tax-widget /&gt;.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113385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onsolas"/>
              </a:rPr>
              <a:t>app/app.config.ts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38912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Bootstrap providers: HttpClient + Animations.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37760"/>
            <a:ext cx="113385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onsolas"/>
              </a:rPr>
              <a:t>main.ts · index.html · styles.css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02920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Standard Angular bootstrap + PrimeNG theme imports.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113385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Consolas"/>
              </a:rPr>
              <a:t>proxy.conf.json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6692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Dev proxy: /api → http://localhost:8000.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to Run · Three Terminals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65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73152" cy="50292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47857"/>
                </a:solidFill>
                <a:latin typeface="Calibri"/>
              </a:rPr>
              <a:t>1. MONGODB 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Local: mongodb://localhost:27017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Or Atlas SRV connection string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Skipping it? Backend uses in-memory fallback.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Set MONGO_URI in backend/.env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097280"/>
            <a:ext cx="73152" cy="5029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0700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Calibri"/>
              </a:rPr>
              <a:t>2.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0020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cd backend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python -m venv .venv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.\.venv\Scripts\Activate.ps1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pip install -r requirements.txt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copy .env.example .env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→ fill in Azure + Mongo creds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uvicorn main:app --reload --port 8000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A580C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Verify: http://localhost:8000/companies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65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73152" cy="5029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0700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3.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0020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cd frontend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npm install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npm start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Open http://localhost:4200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Click any company → see breakdown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Type in chat → AI agent responds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</a:rPr>
              <a:t>■  </a:t>
            </a:r>
            <a:r>
              <a:rPr sz="1100">
                <a:solidFill>
                  <a:srgbClr val="1F2937"/>
                </a:solidFill>
                <a:latin typeface="Calibri"/>
              </a:rPr>
              <a:t>Tool-call chips show which tool fired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Script · 6 Power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18288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441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Single calc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18872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What is the total tax for Pacific Manufacturing Co?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5087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47857"/>
                </a:solidFill>
                <a:latin typeface="Consolas"/>
              </a:rPr>
              <a:t>→ get_company_tax_breakdown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30552"/>
            <a:ext cx="18288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Step-by-step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05740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Walk me through how Atlas Construction's federal tax was calculated.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3774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47857"/>
                </a:solidFill>
                <a:latin typeface="Consolas"/>
              </a:rPr>
              <a:t>→ get_company_tax_breakdown + narration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3464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999232"/>
            <a:ext cx="18288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8152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What-if (state)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9260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What if Pine Grove moved to Texas?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24612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47857"/>
                </a:solidFill>
                <a:latin typeface="Consolas"/>
              </a:rPr>
              <a:t>→ what_if_calculator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867912"/>
            <a:ext cx="18288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5020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Multi-override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7947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What if Pine Grove was an LLC in CA with 200k more deductions?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11480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47857"/>
                </a:solidFill>
                <a:latin typeface="Consolas"/>
              </a:rPr>
              <a:t>→ recalculate_with_overrides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7200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736592"/>
            <a:ext cx="18288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1888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6634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Compare Pacific Manufacturing and Atlas Construction.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9834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47857"/>
                </a:solidFill>
                <a:latin typeface="Consolas"/>
              </a:rPr>
              <a:t>→ compare_companies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4068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605272"/>
            <a:ext cx="18288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6875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Portfolio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553212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Which companies could save the most by restructuring?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8521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47857"/>
                </a:solidFill>
                <a:latin typeface="Consolas"/>
              </a:rPr>
              <a:t>→ tax_savings_opportunities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Tax Lens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749039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29183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Calibri"/>
              </a:rPr>
              <a:t>Deterministic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2918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Tax math is pure Python. Auditable. Reproducible. No hallucinations.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097280"/>
            <a:ext cx="3749039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325880"/>
            <a:ext cx="329183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  <a:latin typeface="Calibri"/>
              </a:rPr>
              <a:t>Agentic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011680"/>
            <a:ext cx="32918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13 callable tools — true function calling, not prompt-engineering tricks.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8" y="1097280"/>
            <a:ext cx="3749039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8" y="1325880"/>
            <a:ext cx="329183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47857"/>
                </a:solidFill>
                <a:latin typeface="Calibri"/>
              </a:rPr>
              <a:t>Conversational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8" y="2011680"/>
            <a:ext cx="32918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Real back-and-forth. Follow-ups. Challenges. Multi-part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57600"/>
            <a:ext cx="3749039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329183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A580C"/>
                </a:solidFill>
                <a:latin typeface="Calibri"/>
              </a:rPr>
              <a:t>Persistent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32918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MongoDB session memory — chat state survives restarts.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3657600"/>
            <a:ext cx="3749039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3886200"/>
            <a:ext cx="329183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Calibri"/>
              </a:rPr>
              <a:t>Transparent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572000"/>
            <a:ext cx="32918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Every reply shows which tools fired — no black box.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8" y="3657600"/>
            <a:ext cx="3749039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8" y="3886200"/>
            <a:ext cx="329183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  <a:latin typeface="Calibri"/>
              </a:rPr>
              <a:t>Strategic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8" y="4572000"/>
            <a:ext cx="32918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Identifies restructuring opportunities across the portfolio.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Tax Lens · Codeathon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5695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Tax Lens · Built in 2 hours · Powered by deterministic math +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