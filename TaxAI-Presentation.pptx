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-1371600"/>
            <a:ext cx="4572000" cy="3657600"/>
          </a:xfrm>
          <a:prstGeom prst="ellipse">
            <a:avLst/>
          </a:prstGeom>
          <a:solidFill>
            <a:srgbClr val="0D3320">
              <a:alpha val="60000"/>
            </a:srgbClr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2920"/>
            <a:ext cx="2194560" cy="228600"/>
          </a:xfrm>
          <a:prstGeom prst="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5120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LIVE  |  2024 FEDERAL BRACKETS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8686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TaxAI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Federal Tax Estimator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English. Get your estimate instantly.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8680" y="3154680"/>
            <a:ext cx="1645920" cy="201168"/>
          </a:xfrm>
          <a:prstGeom prst="rect">
            <a:avLst>
              <a:gd name="adj" fmla="val 22727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EC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 17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88920" y="3154680"/>
            <a:ext cx="1645920" cy="201168"/>
          </a:xfrm>
          <a:prstGeom prst="rect">
            <a:avLst>
              <a:gd name="adj" fmla="val 22727"/>
            </a:avLst>
          </a:prstGeom>
          <a:solidFill>
            <a:srgbClr val="0E3D33"/>
          </a:solidFill>
          <a:ln w="12700">
            <a:solidFill>
              <a:srgbClr val="0E3D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3154680"/>
            <a:ext cx="1645920" cy="201168"/>
          </a:xfrm>
          <a:prstGeom prst="rect">
            <a:avLst>
              <a:gd name="adj" fmla="val 22727"/>
            </a:avLst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OpenAI GPT-4.5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29400" y="3154680"/>
            <a:ext cx="1645920" cy="201168"/>
          </a:xfrm>
          <a:prstGeom prst="rect">
            <a:avLst>
              <a:gd name="adj" fmla="val 22727"/>
            </a:avLst>
          </a:prstGeom>
          <a:solidFill>
            <a:srgbClr val="0E3D33"/>
          </a:solidFill>
          <a:ln w="12700">
            <a:solidFill>
              <a:srgbClr val="0E3D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0" y="4617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Codeathon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65760"/>
            <a:ext cx="4023360" cy="4389120"/>
          </a:xfrm>
          <a:prstGeom prst="rect">
            <a:avLst>
              <a:gd name="adj" fmla="val 2273"/>
            </a:avLst>
          </a:prstGeom>
          <a:solidFill>
            <a:srgbClr val="120A06"/>
          </a:solidFill>
          <a:ln w="6350">
            <a:solidFill>
              <a:srgbClr val="7F3B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9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questions are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3566160" cy="548640"/>
          </a:xfrm>
          <a:prstGeom prst="rect">
            <a:avLst/>
          </a:prstGeom>
          <a:solidFill>
            <a:srgbClr val="1A0C06"/>
          </a:solidFill>
          <a:ln w="6350">
            <a:solidFill>
              <a:srgbClr val="7F3B0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Filing status, deductions, brackets — overwhelming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340864"/>
            <a:ext cx="3566160" cy="548640"/>
          </a:xfrm>
          <a:prstGeom prst="rect">
            <a:avLst/>
          </a:prstGeom>
          <a:solidFill>
            <a:srgbClr val="1A0C06"/>
          </a:solidFill>
          <a:ln w="6350">
            <a:solidFill>
              <a:srgbClr val="7F3B0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Generic calculators need you to know what to enter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962656"/>
            <a:ext cx="3566160" cy="548640"/>
          </a:xfrm>
          <a:prstGeom prst="rect">
            <a:avLst/>
          </a:prstGeom>
          <a:solidFill>
            <a:srgbClr val="1A0C06"/>
          </a:solidFill>
          <a:ln w="6350">
            <a:solidFill>
              <a:srgbClr val="7F3B0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plain-English explanation of why you owe what you owe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84448"/>
            <a:ext cx="3566160" cy="548640"/>
          </a:xfrm>
          <a:prstGeom prst="rect">
            <a:avLst/>
          </a:prstGeom>
          <a:solidFill>
            <a:srgbClr val="1A0C06"/>
          </a:solidFill>
          <a:ln w="6350">
            <a:solidFill>
              <a:srgbClr val="7F3B0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Hard to know what deductions you might be missing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2560320"/>
            <a:ext cx="40233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00600" y="365760"/>
            <a:ext cx="4023360" cy="4389120"/>
          </a:xfrm>
          <a:prstGeom prst="rect">
            <a:avLst>
              <a:gd name="adj" fmla="val 2273"/>
            </a:avLst>
          </a:prstGeom>
          <a:solidFill>
            <a:srgbClr val="0D3320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83480" y="868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TaxAI Widget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83480" y="1719072"/>
            <a:ext cx="3566160" cy="548640"/>
          </a:xfrm>
          <a:prstGeom prst="rect">
            <a:avLst/>
          </a:prstGeom>
          <a:solidFill>
            <a:srgbClr val="071A0F"/>
          </a:solidFill>
          <a:ln w="6350">
            <a:solidFill>
              <a:srgbClr val="1A5C3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 your situation in plain English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340864"/>
            <a:ext cx="3566160" cy="548640"/>
          </a:xfrm>
          <a:prstGeom prst="rect">
            <a:avLst/>
          </a:prstGeom>
          <a:solidFill>
            <a:srgbClr val="071A0F"/>
          </a:solidFill>
          <a:ln w="6350">
            <a:solidFill>
              <a:srgbClr val="1A5C3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GPT-4.5 extracts income, deductions, filing 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962656"/>
            <a:ext cx="3566160" cy="548640"/>
          </a:xfrm>
          <a:prstGeom prst="rect">
            <a:avLst/>
          </a:prstGeom>
          <a:solidFill>
            <a:srgbClr val="071A0F"/>
          </a:solidFill>
          <a:ln w="6350">
            <a:solidFill>
              <a:srgbClr val="1A5C3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Federal tax engine applies 2024 brackets instantly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584448"/>
            <a:ext cx="3566160" cy="548640"/>
          </a:xfrm>
          <a:prstGeom prst="rect">
            <a:avLst/>
          </a:prstGeom>
          <a:solidFill>
            <a:srgbClr val="071A0F"/>
          </a:solidFill>
          <a:ln w="6350">
            <a:solidFill>
              <a:srgbClr val="1A5C38"/>
            </a:solidFill>
          </a:ln>
        </p:spPr>
        <p:txBody>
          <a:bodyPr wrap="square" lIns="76200" tIns="101600" rIns="1016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generates a personalised savings summary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TaxAI?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011680" cy="228600"/>
          </a:xfrm>
          <a:prstGeom prst="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7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THREE-LAYER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 rot="16200000">
            <a:off x="45720" y="1078992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EC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 rot="16200000">
            <a:off x="45720" y="2331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" y="35204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AC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LAYER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960120"/>
            <a:ext cx="8229600" cy="1143000"/>
          </a:xfrm>
          <a:prstGeom prst="rect">
            <a:avLst>
              <a:gd name="adj" fmla="val 8000"/>
            </a:avLst>
          </a:prstGeom>
          <a:solidFill>
            <a:srgbClr val="3C3489">
              <a:alpha val="70000"/>
            </a:srgbClr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207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Widget Component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417320"/>
            <a:ext cx="2103120" cy="566928"/>
          </a:xfrm>
          <a:prstGeom prst="rect">
            <a:avLst>
              <a:gd name="adj" fmla="val 9677"/>
            </a:avLst>
          </a:prstGeom>
          <a:solidFill>
            <a:srgbClr val="3C3489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textarea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63240" y="1417320"/>
            <a:ext cx="2103120" cy="566928"/>
          </a:xfrm>
          <a:prstGeom prst="rect">
            <a:avLst>
              <a:gd name="adj" fmla="val 9677"/>
            </a:avLst>
          </a:prstGeom>
          <a:solidFill>
            <a:srgbClr val="3C3489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Result Card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+ effective rate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49240" y="1417320"/>
            <a:ext cx="2103120" cy="566928"/>
          </a:xfrm>
          <a:prstGeom prst="rect">
            <a:avLst>
              <a:gd name="adj" fmla="val 9677"/>
            </a:avLst>
          </a:prstGeom>
          <a:solidFill>
            <a:srgbClr val="3C3489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Panel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tips + narrative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60920" y="1417320"/>
            <a:ext cx="1371600" cy="566928"/>
          </a:xfrm>
          <a:prstGeom prst="rect">
            <a:avLst>
              <a:gd name="adj" fmla="val 9677"/>
            </a:avLst>
          </a:prstGeom>
          <a:solidFill>
            <a:srgbClr val="3C3489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444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queries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9160" y="2103120"/>
            <a:ext cx="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754880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HTTP/JSON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94360" y="2377440"/>
            <a:ext cx="8229600" cy="1051560"/>
          </a:xfrm>
          <a:prstGeom prst="rect">
            <a:avLst>
              <a:gd name="adj" fmla="val 8696"/>
            </a:avLst>
          </a:prstGeom>
          <a:solidFill>
            <a:srgbClr val="0E3D33">
              <a:alpha val="80000"/>
            </a:srgbClr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2624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|  Auto-detects providers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" y="2807208"/>
            <a:ext cx="2103120" cy="502920"/>
          </a:xfrm>
          <a:prstGeom prst="rect">
            <a:avLst>
              <a:gd name="adj" fmla="val 10909"/>
            </a:avLst>
          </a:prstGeom>
          <a:solidFill>
            <a:srgbClr val="0E3D3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endpoint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2807208"/>
            <a:ext cx="2103120" cy="502920"/>
          </a:xfrm>
          <a:prstGeom prst="rect">
            <a:avLst>
              <a:gd name="adj" fmla="val 10909"/>
            </a:avLst>
          </a:prstGeom>
          <a:solidFill>
            <a:srgbClr val="0E3D3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08960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brackets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49240" y="2807208"/>
            <a:ext cx="2103120" cy="502920"/>
          </a:xfrm>
          <a:prstGeom prst="rect">
            <a:avLst>
              <a:gd name="adj" fmla="val 10909"/>
            </a:avLst>
          </a:prstGeom>
          <a:solidFill>
            <a:srgbClr val="0E3D3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startup.py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detection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60920" y="2807208"/>
            <a:ext cx="1371600" cy="502920"/>
          </a:xfrm>
          <a:prstGeom prst="rect">
            <a:avLst>
              <a:gd name="adj" fmla="val 10909"/>
            </a:avLst>
          </a:prstGeom>
          <a:solidFill>
            <a:srgbClr val="0E3D3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2834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/history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06640" y="3054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9160" y="3429000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754880" y="3456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OpenAI SDK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4360" y="3657600"/>
            <a:ext cx="8229600" cy="1005840"/>
          </a:xfrm>
          <a:prstGeom prst="rect">
            <a:avLst>
              <a:gd name="adj" fmla="val 9091"/>
            </a:avLst>
          </a:prstGeom>
          <a:solidFill>
            <a:srgbClr val="633806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Tax Engine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39044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GPT-4.5  |  Standalone tax_engine.py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7240" y="4087368"/>
            <a:ext cx="2103120" cy="475488"/>
          </a:xfrm>
          <a:prstGeom prst="rect">
            <a:avLst>
              <a:gd name="adj" fmla="val 11538"/>
            </a:avLst>
          </a:prstGeom>
          <a:solidFill>
            <a:srgbClr val="633806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GPT-4.5 NLU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income / deductions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063240" y="4087368"/>
            <a:ext cx="2103120" cy="475488"/>
          </a:xfrm>
          <a:prstGeom prst="rect">
            <a:avLst>
              <a:gd name="adj" fmla="val 11538"/>
            </a:avLst>
          </a:prstGeom>
          <a:solidFill>
            <a:srgbClr val="633806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Brackets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08960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slab engine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49240" y="4087368"/>
            <a:ext cx="2103120" cy="475488"/>
          </a:xfrm>
          <a:prstGeom prst="rect">
            <a:avLst>
              <a:gd name="adj" fmla="val 11538"/>
            </a:avLst>
          </a:prstGeom>
          <a:solidFill>
            <a:srgbClr val="633806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Summary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tips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360920" y="4087368"/>
            <a:ext cx="1371600" cy="475488"/>
          </a:xfrm>
          <a:prstGeom prst="rect">
            <a:avLst>
              <a:gd name="adj" fmla="val 11538"/>
            </a:avLst>
          </a:prstGeom>
          <a:solidFill>
            <a:srgbClr val="633806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4114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4334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286000" cy="228600"/>
          </a:xfrm>
          <a:prstGeom prst="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7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END-TO-END FLOW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508760" cy="2194560"/>
          </a:xfrm>
          <a:prstGeom prst="rect">
            <a:avLst>
              <a:gd name="adj" fmla="val 7273"/>
            </a:avLst>
          </a:prstGeom>
          <a:solidFill>
            <a:srgbClr val="3C3489">
              <a:alpha val="75000"/>
            </a:srgbClr>
          </a:solidFill>
          <a:ln w="10160">
            <a:solidFill>
              <a:srgbClr val="AFA9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plain English: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earn $95k, married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jointly, $6k IRA"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01368" y="2057400"/>
            <a:ext cx="19202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11680" y="960120"/>
            <a:ext cx="1508760" cy="2194560"/>
          </a:xfrm>
          <a:prstGeom prst="rect">
            <a:avLst>
              <a:gd name="adj" fmla="val 7273"/>
            </a:avLst>
          </a:prstGeom>
          <a:solidFill>
            <a:srgbClr val="633806">
              <a:alpha val="75000"/>
            </a:srgbClr>
          </a:solidFill>
          <a:ln w="1016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005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57400" y="14447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GPT-4.5 NLU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4832" y="182880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filing status,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as JSON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38728" y="2057400"/>
            <a:ext cx="19202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960120"/>
            <a:ext cx="1508760" cy="2194560"/>
          </a:xfrm>
          <a:prstGeom prst="rect">
            <a:avLst>
              <a:gd name="adj" fmla="val 7273"/>
            </a:avLst>
          </a:prstGeom>
          <a:solidFill>
            <a:srgbClr val="0E3D33">
              <a:alpha val="75000"/>
            </a:srgbClr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005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4447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22192" y="182880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2024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brackets,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owed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2057400"/>
            <a:ext cx="19202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960120"/>
            <a:ext cx="1508760" cy="2194560"/>
          </a:xfrm>
          <a:prstGeom prst="rect">
            <a:avLst>
              <a:gd name="adj" fmla="val 7273"/>
            </a:avLst>
          </a:prstGeom>
          <a:solidFill>
            <a:srgbClr val="633806">
              <a:alpha val="75000"/>
            </a:srgbClr>
          </a:solidFill>
          <a:ln w="1016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005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14447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182880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GPT-4.5 writes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tips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savings advice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13448" y="2057400"/>
            <a:ext cx="19202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960120"/>
            <a:ext cx="1508760" cy="2194560"/>
          </a:xfrm>
          <a:prstGeom prst="rect">
            <a:avLst>
              <a:gd name="adj" fmla="val 7273"/>
            </a:avLst>
          </a:prstGeom>
          <a:solidFill>
            <a:srgbClr val="3C3489">
              <a:alpha val="75000"/>
            </a:srgbClr>
          </a:solidFill>
          <a:ln w="10160">
            <a:solidFill>
              <a:srgbClr val="AFA9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005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9480" y="14447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Widget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96912" y="182880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displays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amount,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breakdown, summary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8412480" cy="1463040"/>
          </a:xfrm>
          <a:prstGeom prst="rect">
            <a:avLst>
              <a:gd name="adj" fmla="val 6250"/>
            </a:avLst>
          </a:prstGeom>
          <a:solidFill>
            <a:srgbClr val="071A0F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639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earn $95,000 salary, married filing jointly, $18,000 mortgage interest and $6,000 in 401k contributions"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GPT-4.5 extracts  →  tax engine computes  →  AI writes your summary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011680" cy="228600"/>
          </a:xfrm>
          <a:prstGeom prst="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7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FULL AZURE STACK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828800"/>
          </a:xfrm>
          <a:prstGeom prst="rect">
            <a:avLst>
              <a:gd name="adj" fmla="val 5000"/>
            </a:avLst>
          </a:prstGeom>
          <a:solidFill>
            <a:srgbClr val="3C3489">
              <a:alpha val="75000"/>
            </a:srgbClr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384048"/>
          </a:xfrm>
          <a:prstGeom prst="rect">
            <a:avLst>
              <a:gd name="adj" fmla="val 23810"/>
            </a:avLst>
          </a:prstGeom>
          <a:solidFill>
            <a:srgbClr val="3C3489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07008"/>
            <a:ext cx="2651760" cy="18288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0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1078992"/>
            <a:ext cx="822960" cy="201168"/>
          </a:xfrm>
          <a:prstGeom prst="rect">
            <a:avLst>
              <a:gd name="adj" fmla="val 22727"/>
            </a:avLst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088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92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 UI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1214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service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anywhere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1828800"/>
          </a:xfrm>
          <a:prstGeom prst="rect">
            <a:avLst>
              <a:gd name="adj" fmla="val 5000"/>
            </a:avLst>
          </a:prstGeom>
          <a:solidFill>
            <a:srgbClr val="0E3D33">
              <a:alpha val="75000"/>
            </a:srgbClr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05840"/>
            <a:ext cx="2651760" cy="384048"/>
          </a:xfrm>
          <a:prstGeom prst="rect">
            <a:avLst>
              <a:gd name="adj" fmla="val 23810"/>
            </a:avLst>
          </a:prstGeom>
          <a:solidFill>
            <a:srgbClr val="0E3D3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207008"/>
            <a:ext cx="2651760" cy="182880"/>
          </a:xfrm>
          <a:prstGeom prst="rect">
            <a:avLst/>
          </a:prstGeom>
          <a:solidFill>
            <a:srgbClr val="0E3D33"/>
          </a:solidFill>
          <a:ln w="12700">
            <a:solidFill>
              <a:srgbClr val="0E3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60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1078992"/>
            <a:ext cx="822960" cy="201168"/>
          </a:xfrm>
          <a:prstGeom prst="rect">
            <a:avLst>
              <a:gd name="adj" fmla="val 22727"/>
            </a:avLst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088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14630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/api/analyze endpoint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792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1214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providers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450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1005840"/>
            <a:ext cx="2651760" cy="1828800"/>
          </a:xfrm>
          <a:prstGeom prst="rect">
            <a:avLst>
              <a:gd name="adj" fmla="val 5000"/>
            </a:avLst>
          </a:prstGeom>
          <a:solidFill>
            <a:srgbClr val="633806">
              <a:alpha val="7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005840"/>
            <a:ext cx="2651760" cy="384048"/>
          </a:xfrm>
          <a:prstGeom prst="rect">
            <a:avLst>
              <a:gd name="adj" fmla="val 23810"/>
            </a:avLst>
          </a:prstGeom>
          <a:solidFill>
            <a:srgbClr val="633806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207008"/>
            <a:ext cx="2651760" cy="18288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0607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09560" y="1078992"/>
            <a:ext cx="822960" cy="201168"/>
          </a:xfrm>
          <a:prstGeom prst="rect">
            <a:avLst>
              <a:gd name="adj" fmla="val 22727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088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3640" y="14630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GPT-4.5 deployment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7922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extraction prompt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1214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summary prompt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450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063240"/>
            <a:ext cx="2651760" cy="1828800"/>
          </a:xfrm>
          <a:prstGeom prst="rect">
            <a:avLst>
              <a:gd name="adj" fmla="val 5000"/>
            </a:avLst>
          </a:prstGeom>
          <a:solidFill>
            <a:srgbClr val="0E3D33">
              <a:alpha val="75000"/>
            </a:srgbClr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063240"/>
            <a:ext cx="2651760" cy="384048"/>
          </a:xfrm>
          <a:prstGeom prst="rect">
            <a:avLst>
              <a:gd name="adj" fmla="val 23810"/>
            </a:avLst>
          </a:prstGeom>
          <a:solidFill>
            <a:srgbClr val="0E3D3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264408"/>
            <a:ext cx="2651760" cy="182880"/>
          </a:xfrm>
          <a:prstGeom prst="rect">
            <a:avLst/>
          </a:prstGeom>
          <a:solidFill>
            <a:srgbClr val="0E3D33"/>
          </a:solidFill>
          <a:ln w="12700">
            <a:solidFill>
              <a:srgbClr val="0E3D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181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057400" y="3136392"/>
            <a:ext cx="822960" cy="201168"/>
          </a:xfrm>
          <a:prstGeom prst="rect">
            <a:avLst>
              <a:gd name="adj" fmla="val 22727"/>
            </a:avLst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1480" y="3520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 storage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8496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or local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41788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fallback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4507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Auto-indexed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46120" y="3063240"/>
            <a:ext cx="2651760" cy="1828800"/>
          </a:xfrm>
          <a:prstGeom prst="rect">
            <a:avLst>
              <a:gd name="adj" fmla="val 5000"/>
            </a:avLst>
          </a:prstGeom>
          <a:solidFill>
            <a:srgbClr val="3C3489">
              <a:alpha val="75000"/>
            </a:srgbClr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3063240"/>
            <a:ext cx="2651760" cy="384048"/>
          </a:xfrm>
          <a:prstGeom prst="rect">
            <a:avLst>
              <a:gd name="adj" fmla="val 23810"/>
            </a:avLst>
          </a:prstGeom>
          <a:solidFill>
            <a:srgbClr val="3C3489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264408"/>
            <a:ext cx="2651760" cy="18288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31181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83480" y="3136392"/>
            <a:ext cx="822960" cy="201168"/>
          </a:xfrm>
          <a:prstGeom prst="rect">
            <a:avLst>
              <a:gd name="adj" fmla="val 22727"/>
            </a:avLst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337560" y="3520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azure-pipelines.yml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37560" y="38496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→ build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37560" y="41788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jobs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37560" y="4507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publish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72200" y="3063240"/>
            <a:ext cx="2651760" cy="1828800"/>
          </a:xfrm>
          <a:prstGeom prst="rect">
            <a:avLst>
              <a:gd name="adj" fmla="val 5000"/>
            </a:avLst>
          </a:prstGeom>
          <a:solidFill>
            <a:srgbClr val="633806">
              <a:alpha val="7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063240"/>
            <a:ext cx="2651760" cy="384048"/>
          </a:xfrm>
          <a:prstGeom prst="rect">
            <a:avLst>
              <a:gd name="adj" fmla="val 23810"/>
            </a:avLst>
          </a:prstGeom>
          <a:solidFill>
            <a:srgbClr val="633806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72200" y="3264408"/>
            <a:ext cx="2651760" cy="18288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31181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tax_engine.py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909560" y="3136392"/>
            <a:ext cx="822960" cy="201168"/>
          </a:xfrm>
          <a:prstGeom prst="rect">
            <a:avLst>
              <a:gd name="adj" fmla="val 22727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956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63640" y="3520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63640" y="38496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federal brackets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63640" y="41788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without code change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63640" y="4507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states + DC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TaxAI Stand Out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286000" cy="228600"/>
          </a:xfrm>
          <a:prstGeom prst="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7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KEY DIFFERENTIATORS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600200"/>
          </a:xfrm>
          <a:prstGeom prst="rect">
            <a:avLst>
              <a:gd name="adj" fmla="val 5714"/>
            </a:avLst>
          </a:prstGeom>
          <a:solidFill>
            <a:srgbClr val="3C3489">
              <a:alpha val="70000"/>
            </a:srgbClr>
          </a:solidFill>
          <a:ln w="7620">
            <a:solidFill>
              <a:srgbClr val="AFA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600200"/>
          </a:xfrm>
          <a:prstGeom prst="rect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Adapter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17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storage are swappable interfaces. If Azure OpenAI is unavailable on the day, the system auto-falls back to rule-based NLP. No code changes — just fill in the .env file.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1600200"/>
          </a:xfrm>
          <a:prstGeom prst="rect">
            <a:avLst>
              <a:gd name="adj" fmla="val 5714"/>
            </a:avLst>
          </a:prstGeom>
          <a:solidFill>
            <a:srgbClr val="0E3D33">
              <a:alpha val="70000"/>
            </a:srgbClr>
          </a:solidFill>
          <a:ln w="7620">
            <a:solidFill>
              <a:srgbClr val="5DCA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16002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Tax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1417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tax_engine.py has zero external dependencies. Swap it for a TaxJar / Avalara API call without touching Angular, FastAPI, or any adapter. One file, complete isolation.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633806">
              <a:alpha val="70000"/>
            </a:srgbClr>
          </a:solidFill>
          <a:ln w="7620">
            <a:solidFill>
              <a:srgbClr val="EF9F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80360"/>
            <a:ext cx="54864" cy="1600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see a form. GPT-4.5 extracts income, filing status, deductions, and pre-tax contributions from a single English sentence. The query history is stored in MongoDB.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3C3489">
              <a:alpha val="70000"/>
            </a:srgbClr>
          </a:solidFill>
          <a:ln w="7620">
            <a:solidFill>
              <a:srgbClr val="AFA9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880360"/>
            <a:ext cx="54864" cy="1600200"/>
          </a:xfrm>
          <a:prstGeom prst="rect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Personalised Summary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includes an AI-written plain-English explanation: why you owe that amount, which deductions you may be missing, and one actionable tax tip specific to your situation.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2011680" cy="228600"/>
          </a:xfrm>
          <a:prstGeom prst="rect">
            <a:avLst>
              <a:gd name="adj" fmla="val 48000"/>
            </a:avLst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7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2-MINUTE WALKTHROUGH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47472" cy="347472"/>
          </a:xfrm>
          <a:prstGeom prst="ellipse">
            <a:avLst/>
          </a:prstGeom>
          <a:solidFill>
            <a:srgbClr val="0D3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9784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widget at localhost:4200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dark UI, the NL input box, and example chips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" y="1353312"/>
            <a:ext cx="0" cy="475488"/>
          </a:xfrm>
          <a:prstGeom prst="line">
            <a:avLst/>
          </a:prstGeom>
          <a:noFill/>
          <a:ln w="12700">
            <a:solidFill>
              <a:srgbClr val="1E3A2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0040" y="1810512"/>
            <a:ext cx="347472" cy="347472"/>
          </a:xfrm>
          <a:prstGeom prst="ellipse">
            <a:avLst/>
          </a:prstGeom>
          <a:solidFill>
            <a:srgbClr val="0D3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783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Query 1 — Income + deductions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039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earn $95k, married filing jointly, $18k mortgage interest, $6k 401k"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entities panel, bracket breakdown, effective rate, AI summary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" y="2157984"/>
            <a:ext cx="0" cy="475488"/>
          </a:xfrm>
          <a:prstGeom prst="line">
            <a:avLst/>
          </a:prstGeom>
          <a:noFill/>
          <a:ln w="12700">
            <a:solidFill>
              <a:srgbClr val="1E3A2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347472" cy="347472"/>
          </a:xfrm>
          <a:prstGeom prst="ellipse">
            <a:avLst/>
          </a:prstGeom>
          <a:solidFill>
            <a:srgbClr val="0D3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587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Query 2 — Self-employed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84378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"Freelancer, $90k net income, single"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 tax calculation and the additional deduction tip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" y="2962656"/>
            <a:ext cx="0" cy="475488"/>
          </a:xfrm>
          <a:prstGeom prst="line">
            <a:avLst/>
          </a:prstGeom>
          <a:noFill/>
          <a:ln w="12700">
            <a:solidFill>
              <a:srgbClr val="1E3A2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" y="3419856"/>
            <a:ext cx="347472" cy="347472"/>
          </a:xfrm>
          <a:prstGeom prst="ellipse">
            <a:avLst/>
          </a:prstGeom>
          <a:solidFill>
            <a:srgbClr val="0D3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39242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History Panel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64845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persisted in MongoDB — visible in the recent queries strip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" y="3767328"/>
            <a:ext cx="0" cy="475488"/>
          </a:xfrm>
          <a:prstGeom prst="line">
            <a:avLst/>
          </a:prstGeom>
          <a:noFill/>
          <a:ln w="12700">
            <a:solidFill>
              <a:srgbClr val="1E3A2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20040" y="4224528"/>
            <a:ext cx="347472" cy="347472"/>
          </a:xfrm>
          <a:prstGeom prst="ellipse">
            <a:avLst/>
          </a:prstGeom>
          <a:solidFill>
            <a:srgbClr val="0D33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1970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Azure DevOps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453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green pipeline build triggered by the last git push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1A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-1371600"/>
            <a:ext cx="4572000" cy="3657600"/>
          </a:xfrm>
          <a:prstGeom prst="ellipse">
            <a:avLst/>
          </a:prstGeom>
          <a:solidFill>
            <a:srgbClr val="0D3320">
              <a:alpha val="60000"/>
            </a:srgbClr>
          </a:solidFill>
          <a:ln w="12700">
            <a:solidFill>
              <a:srgbClr val="0D33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impress.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 ·  FastAPI  ·  Azure OpenAI GPT-4.5  ·  MongoDB  ·  Azure DevOps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2514600"/>
            <a:ext cx="2286000" cy="1371600"/>
          </a:xfrm>
          <a:prstGeom prst="rect">
            <a:avLst>
              <a:gd name="adj" fmla="val 6667"/>
            </a:avLst>
          </a:prstGeom>
          <a:solidFill>
            <a:srgbClr val="0D3320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14400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swap the entire tax engine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2514600"/>
            <a:ext cx="2286000" cy="1371600"/>
          </a:xfrm>
          <a:prstGeom prst="rect">
            <a:avLst>
              <a:gd name="adj" fmla="val 6667"/>
            </a:avLst>
          </a:prstGeom>
          <a:solidFill>
            <a:srgbClr val="0D3320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keys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566160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run locally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514600"/>
            <a:ext cx="2286000" cy="1371600"/>
          </a:xfrm>
          <a:prstGeom prst="rect">
            <a:avLst>
              <a:gd name="adj" fmla="val 6667"/>
            </a:avLst>
          </a:prstGeom>
          <a:solidFill>
            <a:srgbClr val="0D3320"/>
          </a:solidFill>
          <a:ln w="6350">
            <a:solidFill>
              <a:srgbClr val="1A5C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217920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end-to-end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TaxAI  —  Codeathon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TaxAI - US Federal Tax Estimator</dc:title>
  <dc:subject>PptxGenJS Presentation</dc:subject>
  <dc:creator>TaxAI Team</dc:creator>
  <cp:lastModifiedBy>TaxAI Team</cp:lastModifiedBy>
  <cp:revision>1</cp:revision>
  <dcterms:created xsi:type="dcterms:W3CDTF">2026-04-28T04:53:07Z</dcterms:created>
  <dcterms:modified xsi:type="dcterms:W3CDTF">2026-04-28T04:53:07Z</dcterms:modified>
</cp:coreProperties>
</file>